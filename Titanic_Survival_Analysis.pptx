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Survival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Survived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233</c:v>
                </c:pt>
                <c:pt idx="1">
                  <c:v>109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Survived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81</c:v>
                </c:pt>
                <c:pt idx="1">
                  <c:v>468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Survival by Passenger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Survived</c:v>
                </c:pt>
              </c:strCache>
            </c:strRef>
          </c:tx>
          <c:spPr>
            <a:solidFill>
              <a:srgbClr val="0097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First</c:v>
                  </c:pt>
                  <c:pt idx="1">
                    <c:v>Second</c:v>
                  </c:pt>
                  <c:pt idx="2">
                    <c:v>Third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136</c:v>
                </c:pt>
                <c:pt idx="1">
                  <c:v>87</c:v>
                </c:pt>
                <c:pt idx="2">
                  <c:v>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Survived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First</c:v>
                  </c:pt>
                  <c:pt idx="1">
                    <c:v>Second</c:v>
                  </c:pt>
                  <c:pt idx="2">
                    <c:v>Third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97</c:v>
                </c:pt>
                <c:pt idx="2">
                  <c:v>372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Overall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300"/>
              </a:solidFill>
              <a:effectLst/>
            </c:spPr>
          </c:dPt>
          <c:dPt>
            <c:idx val="1"/>
            <c:bubble3D val="0"/>
            <c:spPr>
              <a:solidFill>
                <a:srgbClr val="E5393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Survived (38%)</c:v>
                </c:pt>
                <c:pt idx="1">
                  <c:v>Not Survived (62%)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342</c:v>
                </c:pt>
                <c:pt idx="1">
                  <c:v>549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Gender Survival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%</c:v>
                </c:pt>
              </c:strCache>
            </c:strRef>
          </c:tx>
          <c:spPr>
            <a:solidFill>
              <a:srgbClr val="0097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7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Class Survival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%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First</c:v>
                  </c:pt>
                  <c:pt idx="1">
                    <c:v>Second</c:v>
                  </c:pt>
                  <c:pt idx="2">
                    <c:v>Third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</c:v>
                </c:pt>
                <c:pt idx="1">
                  <c:v>47</c:v>
                </c:pt>
                <c:pt idx="2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Age Group Survival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%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Child</c:v>
                  </c:pt>
                  <c:pt idx="1">
                    <c:v>Adult</c:v>
                  </c:pt>
                  <c:pt idx="2">
                    <c:v>Senior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38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Project: Titanic Survival Analysis — Python EDA, MySQL queries, Excel dashboard on 891 Titanic passengers.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objective, dataset info, and 5-step workflow from collection to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EDA: libraries, feature engineering, and 4 key analytical steps performed in Jupyter.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insights: gender, class, age group, and fare as survival predictors. Data from 891 Titanic passengers.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 analysis: 20+ structured queries across 6 categories — data overview, missing values, survival stats, demographics, aggregations, and advanced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workbook: 18-column cleaned dataset, pivot tables, and 3 survival dashboards by Gender, Class, and Age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demonstrated: Python, Seaborn, SQL, Excel, analytical thinking, and GitHub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GitHub: github.com/sagar-shende. LinkedIn: linkedin.com/in/sagarshende-ai. Open to Data Analyst roles in Pune.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image" Target="../media/image-4-1.png"/><Relationship Id="rId5" Type="http://schemas.openxmlformats.org/officeDocument/2006/relationships/image" Target="../media/image-4-2.png"/><Relationship Id="rId6" Type="http://schemas.openxmlformats.org/officeDocument/2006/relationships/image" Target="../media/image-4-3.png"/><Relationship Id="rId7" Type="http://schemas.openxmlformats.org/officeDocument/2006/relationships/image" Target="../media/image-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3246120"/>
            <a:ext cx="9070848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18872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ANALYSIS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169164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Titanic Survival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320040" y="26060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800" dirty="0"/>
          </a:p>
        </p:txBody>
      </p:sp>
      <p:sp>
        <p:nvSpPr>
          <p:cNvPr id="10" name="Text 7"/>
          <p:cNvSpPr/>
          <p:nvPr/>
        </p:nvSpPr>
        <p:spPr>
          <a:xfrm>
            <a:off x="320040" y="34015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D8DC"/>
                </a:solidFill>
              </a:rPr>
              <a:t>End-to-end data analysis using Python · MySQL · Excel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39319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EDA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31720" y="39319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0758F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33172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Queries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43400" y="39319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34340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 Dashboard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1143000"/>
            <a:ext cx="2514600" cy="2971800"/>
          </a:xfrm>
          <a:prstGeom prst="rect">
            <a:avLst/>
          </a:prstGeom>
          <a:solidFill>
            <a:srgbClr val="091520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0" y="1234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97A7"/>
                </a:solidFill>
              </a:rPr>
              <a:t>PROJECT STATS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0" y="16642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891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400800" y="1938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Passengers Analyzed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0" y="232257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00800" y="25968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Features Explored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29809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400800" y="32552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Survived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0" y="36393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400800" y="39136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Tools Used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Sagar Shende  |  github.com/sagar-shende  |  2024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64592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5303520" cy="1463040"/>
          </a:xfrm>
          <a:prstGeom prst="rect">
            <a:avLst/>
          </a:prstGeom>
          <a:solidFill>
            <a:srgbClr val="091D34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875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</a:rPr>
              <a:t>Objective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29844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Conduct a comprehensive end-to-end data analysis on the Titanic passenger dataset to uncover what factors — gender, class, age, family size, and fare — determined survival outcomes.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60720" y="868680"/>
            <a:ext cx="3154680" cy="1463040"/>
          </a:xfrm>
          <a:prstGeom prst="rect">
            <a:avLst/>
          </a:prstGeom>
          <a:solidFill>
            <a:srgbClr val="091D34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8755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</a:rPr>
              <a:t>Dataset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43600" y="13716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Source: Seaborn (Titanic)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943600" y="16093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891 Rows, 15 Columns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943600" y="1847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Mixed: Numeric + Categorical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943600" y="20848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Missing values handled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468880"/>
            <a:ext cx="1572768" cy="2148840"/>
          </a:xfrm>
          <a:prstGeom prst="roundRect">
            <a:avLst>
              <a:gd name="adj" fmla="val 4651"/>
            </a:avLst>
          </a:prstGeom>
          <a:solidFill>
            <a:srgbClr val="0D2B5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468880"/>
            <a:ext cx="157276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92608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3192" y="342900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65760" y="38221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Seaborn Titanic dataset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1892808" y="3511296"/>
            <a:ext cx="146304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ysDash"/>
          </a:ln>
        </p:spPr>
      </p:sp>
      <p:sp>
        <p:nvSpPr>
          <p:cNvPr id="23" name="Shape 18"/>
          <p:cNvSpPr/>
          <p:nvPr/>
        </p:nvSpPr>
        <p:spPr>
          <a:xfrm>
            <a:off x="2039112" y="2468880"/>
            <a:ext cx="1572768" cy="2148840"/>
          </a:xfrm>
          <a:prstGeom prst="roundRect">
            <a:avLst>
              <a:gd name="adj" fmla="val 4651"/>
            </a:avLst>
          </a:prstGeom>
          <a:solidFill>
            <a:srgbClr val="0D2B5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039112" y="2468880"/>
            <a:ext cx="1572768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039112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926080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12264" y="342900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EDA &amp; Cleaning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084832" y="38221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Python / Jupyter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611880" y="3511296"/>
            <a:ext cx="146304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ysDash"/>
          </a:ln>
        </p:spPr>
      </p:sp>
      <p:sp>
        <p:nvSpPr>
          <p:cNvPr id="30" name="Shape 24"/>
          <p:cNvSpPr/>
          <p:nvPr/>
        </p:nvSpPr>
        <p:spPr>
          <a:xfrm>
            <a:off x="3758184" y="2468880"/>
            <a:ext cx="1572768" cy="2148840"/>
          </a:xfrm>
          <a:prstGeom prst="roundRect">
            <a:avLst>
              <a:gd name="adj" fmla="val 4651"/>
            </a:avLst>
          </a:prstGeom>
          <a:solidFill>
            <a:srgbClr val="0D2B5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758184" y="2468880"/>
            <a:ext cx="1572768" cy="34747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758184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2926080"/>
            <a:ext cx="438912" cy="4389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31336" y="342900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Analysis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803904" y="38221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20+ MySQL queries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5330952" y="3511296"/>
            <a:ext cx="146304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ysDash"/>
          </a:ln>
        </p:spPr>
      </p:sp>
      <p:sp>
        <p:nvSpPr>
          <p:cNvPr id="37" name="Shape 30"/>
          <p:cNvSpPr/>
          <p:nvPr/>
        </p:nvSpPr>
        <p:spPr>
          <a:xfrm>
            <a:off x="5477256" y="2468880"/>
            <a:ext cx="1572768" cy="2148840"/>
          </a:xfrm>
          <a:prstGeom prst="roundRect">
            <a:avLst>
              <a:gd name="adj" fmla="val 4651"/>
            </a:avLst>
          </a:prstGeom>
          <a:solidFill>
            <a:srgbClr val="0D2B5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477256" y="2468880"/>
            <a:ext cx="1572768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477256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2926080"/>
            <a:ext cx="438912" cy="43891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550408" y="342900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 Dashboard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5522976" y="38221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Pivot tables &amp; charts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7050024" y="3511296"/>
            <a:ext cx="146304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ysDash"/>
          </a:ln>
        </p:spPr>
      </p:sp>
      <p:sp>
        <p:nvSpPr>
          <p:cNvPr id="44" name="Shape 36"/>
          <p:cNvSpPr/>
          <p:nvPr/>
        </p:nvSpPr>
        <p:spPr>
          <a:xfrm>
            <a:off x="7196328" y="2468880"/>
            <a:ext cx="1572768" cy="2148840"/>
          </a:xfrm>
          <a:prstGeom prst="roundRect">
            <a:avLst>
              <a:gd name="adj" fmla="val 4651"/>
            </a:avLst>
          </a:prstGeom>
          <a:solidFill>
            <a:srgbClr val="0D2B5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7196328" y="2468880"/>
            <a:ext cx="1572768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7196328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2926080"/>
            <a:ext cx="438912" cy="43891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269480" y="342900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Insights &amp; Story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7242048" y="38221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Key findings + visuals</a:t>
            </a:r>
            <a:endParaRPr lang="en-US" sz="850" dirty="0"/>
          </a:p>
        </p:txBody>
      </p:sp>
      <p:sp>
        <p:nvSpPr>
          <p:cNvPr id="50" name="Text 4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Sagar Shende  |  github.com/sagar-shende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01168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Exploratory Data Analysis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713232"/>
            <a:ext cx="237744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868680"/>
            <a:ext cx="4206240" cy="1188720"/>
          </a:xfrm>
          <a:prstGeom prst="rect">
            <a:avLst/>
          </a:prstGeom>
          <a:solidFill>
            <a:srgbClr val="091D34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96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Libraries Used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21615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NumPy · Pandas  —  Data wrangling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Matplotlib · Seaborn  —  Visualizations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7099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Jupyter Notebook  —  Development environment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868680"/>
            <a:ext cx="4206240" cy="1188720"/>
          </a:xfrm>
          <a:prstGeom prst="rect">
            <a:avLst/>
          </a:prstGeom>
          <a:solidFill>
            <a:srgbClr val="091D34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896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21615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Age_Group (child / adult / senior)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46320" y="14630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family_size (sibsp + parch)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17099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fare_category (low / mid / high / premium)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46320" y="19568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class_category (First / Second / Third)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2176272"/>
            <a:ext cx="4206240" cy="1051560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6771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78408" y="2249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Missing Value Handling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78408" y="2587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Age → filled with mean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Embarked → filled with mode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Deck → dropped (77% missing)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663440" y="2176272"/>
            <a:ext cx="4206240" cy="1051560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26771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21808" y="2249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Univariate Analysis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321808" y="2587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Histograms, boxplots for Age and Fare distributions; count plots for Pclass and Gender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320040" y="3310128"/>
            <a:ext cx="4206240" cy="1051560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0156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78408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Bivariate Analysis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78408" y="37216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Gender vs Survival, Pclass vs Survival, crosstab + normalize for percentage insights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663440" y="3310128"/>
            <a:ext cx="4206240" cy="1051560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401568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21808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Multivariate Analysis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321808" y="37216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Gender × Pclass × Survival; Age Group × Gender; correlation heatmap (coolwarm / crest)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Sagar Shende  |  github.com/sagar-shende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EDA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18288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20040" y="822960"/>
          <a:ext cx="34747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886200" y="822960"/>
          <a:ext cx="34747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7388352" y="822960"/>
          <a:ext cx="1572768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320040" y="3154680"/>
            <a:ext cx="4206240" cy="749808"/>
          </a:xfrm>
          <a:prstGeom prst="rect">
            <a:avLst/>
          </a:prstGeom>
          <a:solidFill>
            <a:srgbClr val="1B5E20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9184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8408" y="32461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Females survived at 74% vs only 19% males — gender was the strongest predictor.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663440" y="3154680"/>
            <a:ext cx="4206240" cy="749808"/>
          </a:xfrm>
          <a:prstGeom prst="rect">
            <a:avLst/>
          </a:prstGeom>
          <a:solidFill>
            <a:srgbClr val="7F1D1D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291840"/>
            <a:ext cx="411480" cy="411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21808" y="32461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3rd class passengers had only 24% survival rate vs 63% in 1st class.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320040" y="3977640"/>
            <a:ext cx="4206240" cy="749808"/>
          </a:xfrm>
          <a:prstGeom prst="rect">
            <a:avLst/>
          </a:prstGeom>
          <a:solidFill>
            <a:srgbClr val="0D47A1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411480" cy="4114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8408" y="40690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Children (&lt;15) had ~58% survival; "Women &amp; Children First" policy confirmed.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4663440" y="3977640"/>
            <a:ext cx="4206240" cy="749808"/>
          </a:xfrm>
          <a:prstGeom prst="rect">
            <a:avLst/>
          </a:prstGeom>
          <a:solidFill>
            <a:srgbClr val="4A1942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114800"/>
            <a:ext cx="411480" cy="4114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321808" y="40690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Premium fare passengers (&gt;$50) survived at nearly 2× the rate of low-fare travelers.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Sagar Shende  |  github.com/sagar-shende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20116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Queries &amp; Analysis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713232"/>
            <a:ext cx="2194560" cy="4572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914400"/>
            <a:ext cx="4206240" cy="1078992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14400"/>
            <a:ext cx="4206240" cy="32004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31920" y="950976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931920" y="950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58F"/>
                </a:solidFill>
              </a:rPr>
              <a:t>5+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29768" y="1252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Overview Queries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29768" y="155448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Row/column count, dtype check, schema validation using INFORMATION_SCHEMA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63440" y="914400"/>
            <a:ext cx="4206240" cy="1078992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75320" y="950976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275320" y="950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73168" y="1252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Missing Value Analysis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773168" y="155448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NULL counts for Age, Embark Town, Deck; percentage missing calculation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20040" y="2130552"/>
            <a:ext cx="4206240" cy="1078992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130552"/>
            <a:ext cx="4206240" cy="320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130552"/>
            <a:ext cx="320040" cy="320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931920" y="2167128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3931920" y="2167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</a:rPr>
              <a:t>6+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29768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Survival Statistics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29768" y="277063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Survived vs not, survival rate, breakdown by gender, class, and port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663440" y="2130552"/>
            <a:ext cx="4206240" cy="1078992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63440" y="2130552"/>
            <a:ext cx="420624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130552"/>
            <a:ext cx="320040" cy="3200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275320" y="2167128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275320" y="2167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773168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Demographic Analysis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773168" y="277063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AVG / MIN / MAX age and fare; gender distribution; class distribution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320040" y="3346704"/>
            <a:ext cx="4206240" cy="1078992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20040" y="3346704"/>
            <a:ext cx="420624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346704"/>
            <a:ext cx="320040" cy="32004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3931920" y="3383280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393192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</a:rPr>
              <a:t>6+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29768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GROUP BY &amp; Aggregations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29768" y="3986784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GROUP BY Gender, Pclass, Embark_Town; survival rate per segment with ROUND/AVG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4663440" y="3346704"/>
            <a:ext cx="4206240" cy="1078992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663440" y="3346704"/>
            <a:ext cx="4206240" cy="3200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346704"/>
            <a:ext cx="320040" cy="32004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8275320" y="3383280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827532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0E4F"/>
                </a:solidFill>
              </a:rPr>
              <a:t>5+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4773168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Advanced Filtering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4773168" y="3986784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Conditional WHERE, HAVING, subqueries; passenger lookup by multi-criteria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3429000" y="466344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3429000" y="4663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20+ SQL Queries Written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Sagar Shende  |  github.com/sagar-shende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Survival Dashboard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694944"/>
            <a:ext cx="210312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841248"/>
            <a:ext cx="5303520" cy="1188720"/>
          </a:xfrm>
          <a:prstGeom prst="rect">
            <a:avLst/>
          </a:prstGeom>
          <a:solidFill>
            <a:srgbClr val="091D34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68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What's in the Workbook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Clean dataset with 18 columns (original + engineered features)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148132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Pivot Tables: survival by Gender, Class, Age Group, Fare Category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728216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▸  Charts: bar charts, count plots, fare distribution histogram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841248"/>
            <a:ext cx="3154680" cy="1188720"/>
          </a:xfrm>
          <a:prstGeom prst="rect">
            <a:avLst/>
          </a:prstGeom>
          <a:solidFill>
            <a:srgbClr val="091D34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New Columns Added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12344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New_survived  (Survived / Not Survived)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0" y="140817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Gender  (Male / Female)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943600" y="158191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PCLASS  (First / Second / Third)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0" y="175564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Alive  (Yes / No)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943600" y="19293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WHO  (Man / Woman / Child)</a:t>
            </a:r>
            <a:endParaRPr lang="en-US" sz="8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20040" y="2148840"/>
          <a:ext cx="27889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1" descr=""/>
          <p:cNvGraphicFramePr/>
          <p:nvPr/>
        </p:nvGraphicFramePr>
        <p:xfrm>
          <a:off x="3200400" y="2148840"/>
          <a:ext cx="27889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Chart 2" descr=""/>
          <p:cNvGraphicFramePr/>
          <p:nvPr/>
        </p:nvGraphicFramePr>
        <p:xfrm>
          <a:off x="6080760" y="2148840"/>
          <a:ext cx="28346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Sagar Shende  |  github.com/sagar-shende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173736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1664208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8686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914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/ Pandas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9768" y="12893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Data loading &amp; type analysis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9768" y="1581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Null detection &amp; imputation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9768" y="1874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Feature engineering (4 new cols)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9768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GroupBy + crosstab + normalize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72968" y="868680"/>
            <a:ext cx="2743200" cy="1664208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72968" y="868680"/>
            <a:ext cx="274320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86868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48456" y="914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Visualization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82696" y="12893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Histplot, boxplot, countplot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82696" y="1581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Barplot with hue (bivariate)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82696" y="1874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Heatmap (coolwarm, crest)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282696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Multi-variable subplots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035040" y="868680"/>
            <a:ext cx="2743200" cy="1664208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868680"/>
            <a:ext cx="2743200" cy="34747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86868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10528" y="914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/ SQL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144768" y="12893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DDL: CREATE DATABASE, USE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144768" y="1581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Aggregates: COUNT, AVG, MIN, MAX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144768" y="1874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GROUP BY, WHERE, HAVING clauses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144768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INFORMATION_SCHEMA queries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20040" y="2633472"/>
            <a:ext cx="2743200" cy="1664208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2633472"/>
            <a:ext cx="27432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63347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95528" y="2679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29768" y="30540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Data cleaning &amp; enrichment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429768" y="33467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Calculated readable columns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29768" y="3639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Pivot tables for analysis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429768" y="3931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Bar/histogram chart dashboards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172968" y="2633472"/>
            <a:ext cx="2743200" cy="1664208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172968" y="2633472"/>
            <a:ext cx="2743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633472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648456" y="2679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Analytical Thinking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282696" y="30540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Formulated 20+ business questions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3282696" y="33467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Univariate → bivariate → multivar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3282696" y="3639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Gender/Class/Age/Fare patterns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3282696" y="3931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Translated data to actionable insight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6035040" y="2633472"/>
            <a:ext cx="2743200" cy="1664208"/>
          </a:xfrm>
          <a:prstGeom prst="rect">
            <a:avLst/>
          </a:prstGeom>
          <a:solidFill>
            <a:srgbClr val="0D2B5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035040" y="2633472"/>
            <a:ext cx="2743200" cy="3474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2633472"/>
            <a:ext cx="347472" cy="34747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510528" y="2679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&amp; Documentation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6144768" y="30540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Clean repo with README.md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6144768" y="33467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Jupyter notebook + .sql file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6144768" y="3639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Excel dashboard uploaded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6144768" y="3931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▸  Professional commit history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Sagar Shende  |  github.com/sagar-shende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943600" cy="5943600"/>
          </a:xfrm>
          <a:prstGeom prst="oval">
            <a:avLst/>
          </a:prstGeom>
          <a:solidFill>
            <a:srgbClr val="0D2B5E">
              <a:alpha val="40000"/>
            </a:srgbClr>
          </a:solidFill>
          <a:ln w="12700">
            <a:solidFill>
              <a:srgbClr val="0D2B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603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896112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320040" y="193852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8DC"/>
                </a:solidFill>
              </a:rPr>
              <a:t>This project showcases end-to-end data analysis skills that I bring to every problem — from raw data to actionable story.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2834640"/>
            <a:ext cx="5120640" cy="1691640"/>
          </a:xfrm>
          <a:prstGeom prst="rect">
            <a:avLst/>
          </a:prstGeom>
          <a:solidFill>
            <a:srgbClr val="091D34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Let's Connect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2918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GitHub: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63040" y="32918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github.com/sagar-shende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63931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LinkedIn: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63040" y="36393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linkedin.com/in/sagarshende-ai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398678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Tool: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463040" y="39867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Python · MySQL · Excel · Power BI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100584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0D2B5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97A7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80760" y="1508760"/>
            <a:ext cx="2743200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1508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00"/>
                </a:solidFill>
              </a:rPr>
              <a:t>Dataset: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059168" y="15087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Seaborn Titanic (891 rows)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80760" y="1965960"/>
            <a:ext cx="274320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4768" y="1965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00"/>
                </a:solidFill>
              </a:rPr>
              <a:t>Python: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059168" y="19659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EDA · Cleaning · Viz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80760" y="2423160"/>
            <a:ext cx="2743200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44768" y="2423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00"/>
                </a:solidFill>
              </a:rPr>
              <a:t>MySQL: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059168" y="24231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20+ structured queries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80760" y="2880360"/>
            <a:ext cx="274320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44768" y="2880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00"/>
                </a:solidFill>
              </a:rPr>
              <a:t>Excel: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059168" y="28803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Dashboard + Pivot Tables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080760" y="3337560"/>
            <a:ext cx="2743200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44768" y="33375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00"/>
                </a:solidFill>
              </a:rPr>
              <a:t>Finding: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059168" y="33375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Gender &gt; Class &gt; Age &gt; Fare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080760" y="3794760"/>
            <a:ext cx="274320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768" y="3794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00"/>
                </a:solidFill>
              </a:rPr>
              <a:t>Survival: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059168" y="37947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</a:rPr>
              <a:t>38% overall · 74% female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300"/>
                </a:solidFill>
              </a:rPr>
              <a:t>Sagar Shende  |  github.com/sagar-shende  |  Open to Data Analyst Roles — Pune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Survival Analysis</dc:title>
  <dc:subject>PptxGenJS Presentation</dc:subject>
  <dc:creator>Sagar Shende</dc:creator>
  <cp:lastModifiedBy>Sagar Shende</cp:lastModifiedBy>
  <cp:revision>1</cp:revision>
  <dcterms:created xsi:type="dcterms:W3CDTF">2026-06-29T06:44:31Z</dcterms:created>
  <dcterms:modified xsi:type="dcterms:W3CDTF">2026-06-29T06:44:31Z</dcterms:modified>
</cp:coreProperties>
</file>